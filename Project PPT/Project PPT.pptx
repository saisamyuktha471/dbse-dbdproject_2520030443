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 id="2147483665"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 id="267"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BC064B-39CA-4A54-9421-0A6D45FC11BD}">
  <a:tblStyle styleId="{4FBC064B-39CA-4A54-9421-0A6D45FC11BD}"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1E5C409-7E87-4AFE-9682-EFB71199CC5E}" styleName="Table_1">
    <a:wholeTbl>
      <a:tcTxStyle b="off" i="off">
        <a:font>
          <a:latin typeface="Calibri"/>
          <a:ea typeface="Calibri"/>
          <a:cs typeface="Calibri"/>
        </a:font>
        <a:schemeClr val="dk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1V>
    <a:band2V>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6ED56EB-F46E-4B76-A1F6-9141B08699B3}"/>
            </a:ext>
          </a:extLst>
        </p:cNvPr>
        <p:cNvGrpSpPr/>
        <p:nvPr/>
      </p:nvGrpSpPr>
      <p:grpSpPr>
        <a:xfrm>
          <a:off x="0" y="0"/>
          <a:ext cx="0" cy="0"/>
          <a:chOff x="0" y="0"/>
          <a:chExt cx="0" cy="0"/>
        </a:xfrm>
      </p:grpSpPr>
      <p:sp>
        <p:nvSpPr>
          <p:cNvPr id="219" name="Google Shape;219;p11:notes">
            <a:extLst>
              <a:ext uri="{FF2B5EF4-FFF2-40B4-BE49-F238E27FC236}">
                <a16:creationId xmlns:a16="http://schemas.microsoft.com/office/drawing/2014/main" id="{033EC094-FAEC-A816-3186-F01C8842E1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1:notes">
            <a:extLst>
              <a:ext uri="{FF2B5EF4-FFF2-40B4-BE49-F238E27FC236}">
                <a16:creationId xmlns:a16="http://schemas.microsoft.com/office/drawing/2014/main" id="{047ED16D-0AF6-CFCE-337D-68DC7CD34F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1755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3"/>
          <p:cNvSpPr/>
          <p:nvPr/>
        </p:nvSpPr>
        <p:spPr>
          <a:xfrm>
            <a:off x="87228" y="60325"/>
            <a:ext cx="1532022" cy="620712"/>
          </a:xfrm>
          <a:prstGeom prst="rect">
            <a:avLst/>
          </a:prstGeom>
          <a:blipFill rotWithShape="1">
            <a:blip r:embed="rId2">
              <a:alphaModFix amt="78101"/>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9"/>
        <p:cNvGrpSpPr/>
        <p:nvPr/>
      </p:nvGrpSpPr>
      <p:grpSpPr>
        <a:xfrm>
          <a:off x="0" y="0"/>
          <a:ext cx="0" cy="0"/>
          <a:chOff x="0" y="0"/>
          <a:chExt cx="0" cy="0"/>
        </a:xfrm>
      </p:grpSpPr>
      <p:sp>
        <p:nvSpPr>
          <p:cNvPr id="30" name="Google Shape;30;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0"/>
          <p:cNvSpPr>
            <a:spLocks noGrp="1"/>
          </p:cNvSpPr>
          <p:nvPr>
            <p:ph type="pic" idx="2"/>
          </p:nvPr>
        </p:nvSpPr>
        <p:spPr>
          <a:xfrm>
            <a:off x="5183188" y="987425"/>
            <a:ext cx="6172200" cy="4873625"/>
          </a:xfrm>
          <a:prstGeom prst="rect">
            <a:avLst/>
          </a:prstGeom>
          <a:noFill/>
          <a:ln>
            <a:noFill/>
          </a:ln>
        </p:spPr>
      </p:sp>
      <p:sp>
        <p:nvSpPr>
          <p:cNvPr id="69" name="Google Shape;69;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1"/>
        <p:cNvGrpSpPr/>
        <p:nvPr/>
      </p:nvGrpSpPr>
      <p:grpSpPr>
        <a:xfrm>
          <a:off x="0" y="0"/>
          <a:ext cx="0" cy="0"/>
          <a:chOff x="0" y="0"/>
          <a:chExt cx="0" cy="0"/>
        </a:xfrm>
      </p:grpSpPr>
      <p:sp>
        <p:nvSpPr>
          <p:cNvPr id="92" name="Google Shape;9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4" name="Google Shape;9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6" name="Google Shape;10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9" name="Google Shape;119;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1" name="Google Shape;121;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7" name="Google Shape;8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675150" y="705975"/>
            <a:ext cx="10995600" cy="92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2400"/>
              <a:buFont typeface="Calibri"/>
              <a:buNone/>
            </a:pPr>
            <a:br>
              <a:rPr lang="en-US" sz="2400" b="1" dirty="0"/>
            </a:br>
            <a:r>
              <a:rPr lang="en-US" sz="2400" b="1" dirty="0"/>
              <a:t>Digital Order Management with Database System and Retail Analytics</a:t>
            </a:r>
            <a:endParaRPr sz="2400" b="1" dirty="0"/>
          </a:p>
          <a:p>
            <a:pPr marL="0" lvl="0" indent="0" algn="ctr" rtl="0">
              <a:lnSpc>
                <a:spcPct val="100000"/>
              </a:lnSpc>
              <a:spcBef>
                <a:spcPts val="0"/>
              </a:spcBef>
              <a:spcAft>
                <a:spcPts val="0"/>
              </a:spcAft>
              <a:buClr>
                <a:schemeClr val="dk1"/>
              </a:buClr>
              <a:buSzPts val="2400"/>
              <a:buFont typeface="Calibri"/>
              <a:buNone/>
            </a:pPr>
            <a:br>
              <a:rPr lang="en-US" sz="2400" dirty="0">
                <a:latin typeface="Calibri"/>
                <a:ea typeface="Calibri"/>
                <a:cs typeface="Calibri"/>
                <a:sym typeface="Calibri"/>
              </a:rPr>
            </a:br>
            <a:br>
              <a:rPr lang="en-US" sz="2400" dirty="0">
                <a:solidFill>
                  <a:srgbClr val="FF0000"/>
                </a:solidFill>
                <a:latin typeface="Calibri"/>
                <a:ea typeface="Calibri"/>
                <a:cs typeface="Calibri"/>
                <a:sym typeface="Calibri"/>
              </a:rPr>
            </a:br>
            <a:endParaRPr sz="2400" b="1" dirty="0">
              <a:solidFill>
                <a:srgbClr val="011893"/>
              </a:solidFill>
              <a:latin typeface="Calibri"/>
              <a:ea typeface="Calibri"/>
              <a:cs typeface="Calibri"/>
              <a:sym typeface="Calibri"/>
            </a:endParaRPr>
          </a:p>
        </p:txBody>
      </p:sp>
      <p:sp>
        <p:nvSpPr>
          <p:cNvPr id="131" name="Google Shape;131;p19"/>
          <p:cNvSpPr txBox="1"/>
          <p:nvPr/>
        </p:nvSpPr>
        <p:spPr>
          <a:xfrm>
            <a:off x="961417" y="5032000"/>
            <a:ext cx="10506683" cy="1380753"/>
          </a:xfrm>
          <a:prstGeom prst="rect">
            <a:avLst/>
          </a:prstGeom>
          <a:noFill/>
          <a:ln>
            <a:noFill/>
          </a:ln>
        </p:spPr>
        <p:txBody>
          <a:bodyPr spcFirstLastPara="1" wrap="square" lIns="91425" tIns="45700" rIns="91425" bIns="45700" anchor="t" anchorCtr="0">
            <a:normAutofit lnSpcReduction="10000"/>
          </a:bodyPr>
          <a:lstStyle/>
          <a:p>
            <a:pPr marL="0" marR="0" lvl="0" indent="0" algn="ctr" rtl="0">
              <a:lnSpc>
                <a:spcPct val="90000"/>
              </a:lnSpc>
              <a:spcBef>
                <a:spcPts val="0"/>
              </a:spcBef>
              <a:spcAft>
                <a:spcPts val="0"/>
              </a:spcAft>
              <a:buClr>
                <a:schemeClr val="dk1"/>
              </a:buClr>
              <a:buSzPts val="1800"/>
              <a:buFont typeface="Arial"/>
              <a:buNone/>
            </a:pPr>
            <a:endParaRPr sz="1800" b="1" i="0" u="none" strike="noStrike" cap="none">
              <a:solidFill>
                <a:srgbClr val="C00000"/>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1800"/>
              <a:buFont typeface="Arial"/>
              <a:buNone/>
            </a:pPr>
            <a:endParaRPr sz="1800" b="1" i="0" u="none" strike="noStrike" cap="none">
              <a:solidFill>
                <a:srgbClr val="C00000"/>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ts val="1800"/>
              <a:buFont typeface="Arial"/>
              <a:buNone/>
            </a:pPr>
            <a:endParaRPr sz="1800" b="1" i="0" u="none" strike="noStrike" cap="none">
              <a:solidFill>
                <a:srgbClr val="C00000"/>
              </a:solidFill>
              <a:latin typeface="Calibri"/>
              <a:ea typeface="Calibri"/>
              <a:cs typeface="Calibri"/>
              <a:sym typeface="Calibri"/>
            </a:endParaRPr>
          </a:p>
          <a:p>
            <a:pPr marL="0" marR="0" lvl="0" indent="0" algn="ctr" rtl="0">
              <a:lnSpc>
                <a:spcPct val="90000"/>
              </a:lnSpc>
              <a:spcBef>
                <a:spcPts val="1000"/>
              </a:spcBef>
              <a:spcAft>
                <a:spcPts val="0"/>
              </a:spcAft>
              <a:buClr>
                <a:srgbClr val="C00000"/>
              </a:buClr>
              <a:buSzPts val="1800"/>
              <a:buFont typeface="Arial"/>
              <a:buNone/>
            </a:pPr>
            <a:r>
              <a:rPr lang="en-US" sz="1800" b="1" i="0" u="none" strike="noStrike" cap="none">
                <a:solidFill>
                  <a:srgbClr val="C00000"/>
                </a:solidFill>
                <a:latin typeface="Calibri"/>
                <a:ea typeface="Calibri"/>
                <a:cs typeface="Calibri"/>
                <a:sym typeface="Calibri"/>
              </a:rPr>
              <a:t>KONERU LAKSHMAIAH EDUCATION FOUNDATION</a:t>
            </a:r>
            <a:endParaRPr/>
          </a:p>
          <a:p>
            <a:pPr marL="0" marR="0" lvl="0" indent="0" algn="l" rtl="0">
              <a:lnSpc>
                <a:spcPct val="90000"/>
              </a:lnSpc>
              <a:spcBef>
                <a:spcPts val="1000"/>
              </a:spcBef>
              <a:spcAft>
                <a:spcPts val="0"/>
              </a:spcAft>
              <a:buClr>
                <a:schemeClr val="dk1"/>
              </a:buClr>
              <a:buSzPts val="1800"/>
              <a:buFont typeface="Arial"/>
              <a:buNone/>
            </a:pPr>
            <a:endParaRPr sz="1800" b="1" i="0" u="none" strike="noStrike" cap="none">
              <a:solidFill>
                <a:srgbClr val="0070C0"/>
              </a:solidFill>
              <a:latin typeface="Calibri"/>
              <a:ea typeface="Calibri"/>
              <a:cs typeface="Calibri"/>
              <a:sym typeface="Calibri"/>
            </a:endParaRPr>
          </a:p>
        </p:txBody>
      </p:sp>
      <p:sp>
        <p:nvSpPr>
          <p:cNvPr id="132" name="Google Shape;132;p19"/>
          <p:cNvSpPr txBox="1"/>
          <p:nvPr/>
        </p:nvSpPr>
        <p:spPr>
          <a:xfrm>
            <a:off x="952500" y="3143780"/>
            <a:ext cx="10515600" cy="1806292"/>
          </a:xfrm>
          <a:prstGeom prst="rect">
            <a:avLst/>
          </a:prstGeom>
          <a:noFill/>
          <a:ln>
            <a:noFill/>
          </a:ln>
        </p:spPr>
        <p:txBody>
          <a:bodyPr spcFirstLastPara="1" wrap="square" lIns="91425" tIns="45700" rIns="91425" bIns="45700" anchor="t" anchorCtr="0">
            <a:normAutofit fontScale="55000" lnSpcReduction="20000"/>
          </a:bodyPr>
          <a:lstStyle/>
          <a:p>
            <a:pPr marL="0" marR="0" lvl="0" indent="0" algn="ctr" rtl="0">
              <a:lnSpc>
                <a:spcPct val="90000"/>
              </a:lnSpc>
              <a:spcBef>
                <a:spcPts val="0"/>
              </a:spcBef>
              <a:spcAft>
                <a:spcPts val="0"/>
              </a:spcAft>
              <a:buClr>
                <a:schemeClr val="dk1"/>
              </a:buClr>
              <a:buSzPct val="65284"/>
              <a:buFont typeface="Arial"/>
              <a:buNone/>
            </a:pPr>
            <a:r>
              <a:rPr lang="en-US" sz="3676" b="0" i="0" u="none" strike="noStrike" cap="none">
                <a:solidFill>
                  <a:schemeClr val="dk1"/>
                </a:solidFill>
                <a:latin typeface="Calibri"/>
                <a:ea typeface="Calibri"/>
                <a:cs typeface="Calibri"/>
                <a:sym typeface="Calibri"/>
              </a:rPr>
              <a:t>Under the Guidance </a:t>
            </a:r>
            <a:endParaRPr sz="2676"/>
          </a:p>
          <a:p>
            <a:pPr marL="0" marR="0" lvl="0" indent="0" algn="ctr" rtl="0">
              <a:lnSpc>
                <a:spcPct val="90000"/>
              </a:lnSpc>
              <a:spcBef>
                <a:spcPts val="1000"/>
              </a:spcBef>
              <a:spcAft>
                <a:spcPts val="0"/>
              </a:spcAft>
              <a:buClr>
                <a:schemeClr val="dk1"/>
              </a:buClr>
              <a:buSzPct val="65284"/>
              <a:buFont typeface="Arial"/>
              <a:buNone/>
            </a:pPr>
            <a:r>
              <a:rPr lang="en-US" sz="3676" b="0" i="0" u="none" strike="noStrike" cap="none">
                <a:solidFill>
                  <a:schemeClr val="dk1"/>
                </a:solidFill>
                <a:latin typeface="Calibri"/>
                <a:ea typeface="Calibri"/>
                <a:cs typeface="Calibri"/>
                <a:sym typeface="Calibri"/>
              </a:rPr>
              <a:t>of </a:t>
            </a:r>
            <a:endParaRPr sz="3676" b="0" i="0" u="none" strike="noStrike" cap="none">
              <a:solidFill>
                <a:srgbClr val="00B050"/>
              </a:solidFill>
              <a:latin typeface="Calibri"/>
              <a:ea typeface="Calibri"/>
              <a:cs typeface="Calibri"/>
              <a:sym typeface="Calibri"/>
            </a:endParaRPr>
          </a:p>
          <a:p>
            <a:pPr marL="0" marR="0" lvl="0" indent="0" algn="ctr" rtl="0">
              <a:lnSpc>
                <a:spcPct val="90000"/>
              </a:lnSpc>
              <a:spcBef>
                <a:spcPts val="1000"/>
              </a:spcBef>
              <a:spcAft>
                <a:spcPts val="0"/>
              </a:spcAft>
              <a:buClr>
                <a:srgbClr val="00B050"/>
              </a:buClr>
              <a:buSzPct val="62674"/>
              <a:buFont typeface="Arial"/>
              <a:buNone/>
            </a:pPr>
            <a:r>
              <a:rPr lang="en-US" sz="3829" b="0" i="0" u="none" strike="noStrike" cap="none">
                <a:solidFill>
                  <a:srgbClr val="00B050"/>
                </a:solidFill>
                <a:latin typeface="Calibri"/>
                <a:ea typeface="Calibri"/>
                <a:cs typeface="Calibri"/>
                <a:sym typeface="Calibri"/>
              </a:rPr>
              <a:t>Dr. Y Subbarayudu</a:t>
            </a:r>
            <a:endParaRPr sz="3829" b="0" i="0" u="none" strike="noStrike" cap="none">
              <a:solidFill>
                <a:srgbClr val="00B050"/>
              </a:solidFill>
              <a:latin typeface="Calibri"/>
              <a:ea typeface="Calibri"/>
              <a:cs typeface="Calibri"/>
              <a:sym typeface="Calibri"/>
            </a:endParaRPr>
          </a:p>
          <a:p>
            <a:pPr marL="0" marR="0" lvl="0" indent="0" algn="ctr" rtl="0">
              <a:lnSpc>
                <a:spcPct val="90000"/>
              </a:lnSpc>
              <a:spcBef>
                <a:spcPts val="1000"/>
              </a:spcBef>
              <a:spcAft>
                <a:spcPts val="0"/>
              </a:spcAft>
              <a:buClr>
                <a:srgbClr val="00B050"/>
              </a:buClr>
              <a:buSzPct val="62674"/>
              <a:buFont typeface="Arial"/>
              <a:buNone/>
            </a:pPr>
            <a:r>
              <a:rPr lang="en-US" sz="3829">
                <a:solidFill>
                  <a:srgbClr val="00B050"/>
                </a:solidFill>
                <a:latin typeface="Calibri"/>
                <a:ea typeface="Calibri"/>
                <a:cs typeface="Calibri"/>
                <a:sym typeface="Calibri"/>
              </a:rPr>
              <a:t>Assistant</a:t>
            </a:r>
            <a:r>
              <a:rPr lang="en-US" sz="3829" b="0" i="0" u="none" strike="noStrike" cap="none">
                <a:solidFill>
                  <a:srgbClr val="00B050"/>
                </a:solidFill>
                <a:latin typeface="Calibri"/>
                <a:ea typeface="Calibri"/>
                <a:cs typeface="Calibri"/>
                <a:sym typeface="Calibri"/>
              </a:rPr>
              <a:t> Professor</a:t>
            </a:r>
            <a:endParaRPr sz="2829"/>
          </a:p>
          <a:p>
            <a:pPr marL="0" marR="0" lvl="0" indent="0" algn="ctr" rtl="0">
              <a:lnSpc>
                <a:spcPct val="90000"/>
              </a:lnSpc>
              <a:spcBef>
                <a:spcPts val="1000"/>
              </a:spcBef>
              <a:spcAft>
                <a:spcPts val="0"/>
              </a:spcAft>
              <a:buClr>
                <a:srgbClr val="00B050"/>
              </a:buClr>
              <a:buSzPct val="62674"/>
              <a:buFont typeface="Arial"/>
              <a:buNone/>
            </a:pPr>
            <a:r>
              <a:rPr lang="en-US" sz="3829" b="0" i="0" u="none" strike="noStrike" cap="none">
                <a:solidFill>
                  <a:srgbClr val="00B050"/>
                </a:solidFill>
                <a:latin typeface="Calibri"/>
                <a:ea typeface="Calibri"/>
                <a:cs typeface="Calibri"/>
                <a:sym typeface="Calibri"/>
              </a:rPr>
              <a:t>Department of Computer Science and Engineering</a:t>
            </a:r>
            <a:r>
              <a:rPr lang="en-US" sz="3045" b="0" i="0" u="none" strike="noStrike" cap="none">
                <a:solidFill>
                  <a:srgbClr val="00B050"/>
                </a:solidFill>
                <a:latin typeface="Calibri"/>
                <a:ea typeface="Calibri"/>
                <a:cs typeface="Calibri"/>
                <a:sym typeface="Calibri"/>
              </a:rPr>
              <a:t> </a:t>
            </a:r>
            <a:endParaRPr sz="2045"/>
          </a:p>
          <a:p>
            <a:pPr marL="0" marR="0" lvl="0" indent="0" algn="l" rtl="0">
              <a:lnSpc>
                <a:spcPct val="90000"/>
              </a:lnSpc>
              <a:spcBef>
                <a:spcPts val="1000"/>
              </a:spcBef>
              <a:spcAft>
                <a:spcPts val="0"/>
              </a:spcAft>
              <a:buClr>
                <a:schemeClr val="dk1"/>
              </a:buClr>
              <a:buSzPct val="100000"/>
              <a:buFont typeface="Arial"/>
              <a:buNone/>
            </a:pPr>
            <a:endParaRPr sz="2400" b="0" i="0" u="none" strike="noStrike" cap="none">
              <a:solidFill>
                <a:srgbClr val="00B050"/>
              </a:solidFill>
              <a:latin typeface="Calibri"/>
              <a:ea typeface="Calibri"/>
              <a:cs typeface="Calibri"/>
              <a:sym typeface="Calibri"/>
            </a:endParaRPr>
          </a:p>
        </p:txBody>
      </p:sp>
      <p:sp>
        <p:nvSpPr>
          <p:cNvPr id="133" name="Google Shape;13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lt1"/>
                </a:solidFill>
              </a:rPr>
              <a:t>0th REVIEW           </a:t>
            </a:r>
            <a:endParaRPr/>
          </a:p>
        </p:txBody>
      </p:sp>
      <p:sp>
        <p:nvSpPr>
          <p:cNvPr id="134" name="Google Shape;13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35" name="Google Shape;135;p19"/>
          <p:cNvPicPr preferRelativeResize="0"/>
          <p:nvPr/>
        </p:nvPicPr>
        <p:blipFill rotWithShape="1">
          <a:blip r:embed="rId3">
            <a:alphaModFix/>
          </a:blip>
          <a:srcRect/>
          <a:stretch/>
        </p:blipFill>
        <p:spPr>
          <a:xfrm>
            <a:off x="5056040" y="4860024"/>
            <a:ext cx="2618924" cy="1243012"/>
          </a:xfrm>
          <a:prstGeom prst="rect">
            <a:avLst/>
          </a:prstGeom>
          <a:noFill/>
          <a:ln>
            <a:noFill/>
          </a:ln>
        </p:spPr>
      </p:pic>
      <p:graphicFrame>
        <p:nvGraphicFramePr>
          <p:cNvPr id="136" name="Google Shape;136;p19"/>
          <p:cNvGraphicFramePr/>
          <p:nvPr/>
        </p:nvGraphicFramePr>
        <p:xfrm>
          <a:off x="2032000" y="1680962"/>
          <a:ext cx="8128000" cy="1112550"/>
        </p:xfrm>
        <a:graphic>
          <a:graphicData uri="http://schemas.openxmlformats.org/drawingml/2006/table">
            <a:tbl>
              <a:tblPr firstRow="1" bandRow="1">
                <a:noFill/>
                <a:tableStyleId>{4FBC064B-39CA-4A54-9421-0A6D45FC11BD}</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t>K. SAI SAMYUKTHA</a:t>
                      </a:r>
                      <a:endParaRPr/>
                    </a:p>
                  </a:txBody>
                  <a:tcPr marL="91450" marR="91450" marT="45725" marB="45725"/>
                </a:tc>
                <a:tc>
                  <a:txBody>
                    <a:bodyPr/>
                    <a:lstStyle/>
                    <a:p>
                      <a:pPr marL="0" marR="0" lvl="0" indent="0" algn="l" rtl="0">
                        <a:spcBef>
                          <a:spcPts val="0"/>
                        </a:spcBef>
                        <a:spcAft>
                          <a:spcPts val="0"/>
                        </a:spcAft>
                        <a:buNone/>
                      </a:pPr>
                      <a:r>
                        <a:rPr lang="en-US" sz="1800"/>
                        <a:t>2520030443</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ANUSHKA KULKARNI</a:t>
                      </a:r>
                      <a:endParaRPr/>
                    </a:p>
                  </a:txBody>
                  <a:tcPr marL="91450" marR="91450" marT="45725" marB="45725"/>
                </a:tc>
                <a:tc>
                  <a:txBody>
                    <a:bodyPr/>
                    <a:lstStyle/>
                    <a:p>
                      <a:pPr marL="0" marR="0" lvl="0" indent="0" algn="l" rtl="0">
                        <a:spcBef>
                          <a:spcPts val="0"/>
                        </a:spcBef>
                        <a:spcAft>
                          <a:spcPts val="0"/>
                        </a:spcAft>
                        <a:buNone/>
                      </a:pPr>
                      <a:r>
                        <a:rPr lang="en-US" sz="1800"/>
                        <a:t>2520030501</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RAKESH MEDIKONDA</a:t>
                      </a:r>
                      <a:endParaRPr/>
                    </a:p>
                  </a:txBody>
                  <a:tcPr marL="91450" marR="91450" marT="45725" marB="45725"/>
                </a:tc>
                <a:tc>
                  <a:txBody>
                    <a:bodyPr/>
                    <a:lstStyle/>
                    <a:p>
                      <a:pPr marL="0" marR="0" lvl="0" indent="0" algn="l" rtl="0">
                        <a:spcBef>
                          <a:spcPts val="0"/>
                        </a:spcBef>
                        <a:spcAft>
                          <a:spcPts val="0"/>
                        </a:spcAft>
                        <a:buNone/>
                      </a:pPr>
                      <a:r>
                        <a:rPr lang="en-US" sz="1800"/>
                        <a:t>2520030035</a:t>
                      </a:r>
                      <a:endParaRPr/>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a:spLocks noGrp="1"/>
          </p:cNvSpPr>
          <p:nvPr>
            <p:ph type="title"/>
          </p:nvPr>
        </p:nvSpPr>
        <p:spPr>
          <a:xfrm>
            <a:off x="1424484" y="374681"/>
            <a:ext cx="9343030" cy="72669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Calibri"/>
              <a:buNone/>
            </a:pPr>
            <a:r>
              <a:rPr lang="en-US" sz="3200" b="1" dirty="0">
                <a:solidFill>
                  <a:srgbClr val="0070C0"/>
                </a:solidFill>
              </a:rPr>
              <a:t>GROUP NUMBER:7</a:t>
            </a:r>
            <a:endParaRPr sz="3200" b="1" dirty="0">
              <a:solidFill>
                <a:srgbClr val="0070C0"/>
              </a:solidFill>
            </a:endParaRPr>
          </a:p>
        </p:txBody>
      </p:sp>
      <p:sp>
        <p:nvSpPr>
          <p:cNvPr id="143" name="Google Shape;14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44" name="Google Shape;14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aphicFrame>
        <p:nvGraphicFramePr>
          <p:cNvPr id="145" name="Google Shape;145;p20"/>
          <p:cNvGraphicFramePr/>
          <p:nvPr>
            <p:extLst>
              <p:ext uri="{D42A27DB-BD31-4B8C-83A1-F6EECF244321}">
                <p14:modId xmlns:p14="http://schemas.microsoft.com/office/powerpoint/2010/main" val="1329332138"/>
              </p:ext>
            </p:extLst>
          </p:nvPr>
        </p:nvGraphicFramePr>
        <p:xfrm>
          <a:off x="838199" y="1416193"/>
          <a:ext cx="10515600" cy="3567700"/>
        </p:xfrm>
        <a:graphic>
          <a:graphicData uri="http://schemas.openxmlformats.org/drawingml/2006/table">
            <a:tbl>
              <a:tblPr firstRow="1" bandRow="1">
                <a:noFill/>
                <a:tableStyleId>{41E5C409-7E87-4AFE-9682-EFB71199CC5E}</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18450">
                <a:tc>
                  <a:txBody>
                    <a:bodyPr/>
                    <a:lstStyle/>
                    <a:p>
                      <a:pPr marL="0" marR="0" lvl="0" indent="0" algn="ctr" rtl="0">
                        <a:spcBef>
                          <a:spcPts val="0"/>
                        </a:spcBef>
                        <a:spcAft>
                          <a:spcPts val="0"/>
                        </a:spcAft>
                        <a:buNone/>
                      </a:pPr>
                      <a:r>
                        <a:rPr lang="en-US" sz="1800"/>
                        <a:t>Name of Candidate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a:t>Role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29850">
                <a:tc>
                  <a:txBody>
                    <a:bodyPr/>
                    <a:lstStyle/>
                    <a:p>
                      <a:pPr marL="0" marR="0" lvl="0" indent="0" algn="ctr" rtl="0">
                        <a:spcBef>
                          <a:spcPts val="0"/>
                        </a:spcBef>
                        <a:spcAft>
                          <a:spcPts val="0"/>
                        </a:spcAft>
                        <a:buNone/>
                      </a:pPr>
                      <a:r>
                        <a:rPr lang="en-US" sz="1800"/>
                        <a:t>K. SAI SAMYUKTHA</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Backend &amp; Database</a:t>
                      </a: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29850">
                <a:tc>
                  <a:txBody>
                    <a:bodyPr/>
                    <a:lstStyle/>
                    <a:p>
                      <a:pPr marL="0" marR="0" lvl="0" indent="0" algn="ctr" rtl="0">
                        <a:spcBef>
                          <a:spcPts val="0"/>
                        </a:spcBef>
                        <a:spcAft>
                          <a:spcPts val="0"/>
                        </a:spcAft>
                        <a:buNone/>
                      </a:pPr>
                      <a:r>
                        <a:rPr lang="en-US" sz="1800"/>
                        <a:t>ANUSHKA KULKARNI</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IN" sz="1800" dirty="0"/>
                        <a:t>Frontend &amp; Customer Module</a:t>
                      </a: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29850">
                <a:tc>
                  <a:txBody>
                    <a:bodyPr/>
                    <a:lstStyle/>
                    <a:p>
                      <a:pPr marL="0" marR="0" lvl="0" indent="0" algn="ctr" rtl="0">
                        <a:lnSpc>
                          <a:spcPct val="100000"/>
                        </a:lnSpc>
                        <a:spcBef>
                          <a:spcPts val="0"/>
                        </a:spcBef>
                        <a:spcAft>
                          <a:spcPts val="0"/>
                        </a:spcAft>
                        <a:buClr>
                          <a:schemeClr val="dk1"/>
                        </a:buClr>
                        <a:buSzPts val="1800"/>
                        <a:buFont typeface="Calibri"/>
                        <a:buNone/>
                      </a:pPr>
                      <a:r>
                        <a:rPr lang="en-US" sz="1800"/>
                        <a:t>RAKESH MEDIKONDA</a:t>
                      </a: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IN" sz="1800" b="0" dirty="0"/>
                        <a:t>Analytics &amp; Testing </a:t>
                      </a:r>
                      <a:endParaRPr sz="1800" b="0"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29850">
                <a:tc>
                  <a:txBody>
                    <a:bodyPr/>
                    <a:lstStyle/>
                    <a:p>
                      <a:pPr marL="0" marR="0" lvl="0" indent="0" algn="l" rtl="0">
                        <a:spcBef>
                          <a:spcPts val="0"/>
                        </a:spcBef>
                        <a:spcAft>
                          <a:spcPts val="0"/>
                        </a:spcAft>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b="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29850">
                <a:tc>
                  <a:txBody>
                    <a:bodyPr/>
                    <a:lstStyle/>
                    <a:p>
                      <a:pPr marL="0" marR="0" lvl="0" indent="0" algn="l" rtl="0">
                        <a:lnSpc>
                          <a:spcPct val="100000"/>
                        </a:lnSpc>
                        <a:spcBef>
                          <a:spcPts val="0"/>
                        </a:spcBef>
                        <a:spcAft>
                          <a:spcPts val="0"/>
                        </a:spcAft>
                        <a:buClr>
                          <a:schemeClr val="dk1"/>
                        </a:buClr>
                        <a:buSzPts val="1800"/>
                        <a:buFont typeface="Calibri"/>
                        <a:buNone/>
                      </a:pPr>
                      <a:endParaRPr sz="180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b="0"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Calibri"/>
              <a:buNone/>
            </a:pPr>
            <a:r>
              <a:rPr lang="en-US" sz="3200" b="1">
                <a:solidFill>
                  <a:srgbClr val="0070C0"/>
                </a:solidFill>
              </a:rPr>
              <a:t>ABSTRACT</a:t>
            </a:r>
            <a:endParaRPr/>
          </a:p>
        </p:txBody>
      </p:sp>
      <p:sp>
        <p:nvSpPr>
          <p:cNvPr id="152" name="Google Shape;15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53" name="Google Shape;15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54" name="Google Shape;154;p21"/>
          <p:cNvSpPr txBox="1">
            <a:spLocks noGrp="1"/>
          </p:cNvSpPr>
          <p:nvPr>
            <p:ph type="body" idx="1"/>
          </p:nvPr>
        </p:nvSpPr>
        <p:spPr>
          <a:xfrm>
            <a:off x="575733" y="1278468"/>
            <a:ext cx="10964333" cy="5300132"/>
          </a:xfrm>
          <a:prstGeom prst="rect">
            <a:avLst/>
          </a:prstGeom>
          <a:noFill/>
          <a:ln>
            <a:noFill/>
          </a:ln>
        </p:spPr>
        <p:txBody>
          <a:bodyPr spcFirstLastPara="1" wrap="square" lIns="91425" tIns="45700" rIns="91425" bIns="45700" anchor="t" anchorCtr="0">
            <a:noAutofit/>
          </a:bodyPr>
          <a:lstStyle/>
          <a:p>
            <a:pPr marL="114300" indent="0" algn="just">
              <a:lnSpc>
                <a:spcPct val="150000"/>
              </a:lnSpc>
              <a:buNone/>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Digital Order Management with Database System and Retail Analytics</a:t>
            </a:r>
            <a:r>
              <a:rPr lang="en-IN" sz="2000" dirty="0">
                <a:latin typeface="Times New Roman" panose="02020603050405020304" pitchFamily="18" charset="0"/>
                <a:cs typeface="Times New Roman" panose="02020603050405020304" pitchFamily="18" charset="0"/>
              </a:rPr>
              <a:t> is a web-based system developed to simplify and organize retail and e-commerce operations through a centralized database. The system allows customers to register and log in securely, browse and search products, view product details, manage their cart, place orders, track orders, and request returns. It also maintains customer, product, inventory, order, and return information in a structured database.</a:t>
            </a:r>
          </a:p>
          <a:p>
            <a:pPr marL="114300" indent="0" algn="just">
              <a:lnSpc>
                <a:spcPct val="150000"/>
              </a:lnSpc>
              <a:buNone/>
            </a:pPr>
            <a:r>
              <a:rPr lang="en-IN" sz="2000" dirty="0">
                <a:latin typeface="Times New Roman" panose="02020603050405020304" pitchFamily="18" charset="0"/>
                <a:cs typeface="Times New Roman" panose="02020603050405020304" pitchFamily="18" charset="0"/>
              </a:rPr>
              <a:t>The system provides an administrative dashboard for managing products, inventory, customers, orders, and returns. It also includes a retail analytics module that displays sales, revenue, order trends, product performance, and return information. A Business Decision Support module uses the available business data to provide useful insights and recommendations, helping administrators understand business performance and make better operational decisions.</a:t>
            </a:r>
          </a:p>
          <a:p>
            <a:pPr marL="228600" lvl="0" indent="-50800" algn="l" rtl="0">
              <a:lnSpc>
                <a:spcPct val="90000"/>
              </a:lnSpc>
              <a:spcBef>
                <a:spcPts val="12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Calibri"/>
              <a:buNone/>
            </a:pPr>
            <a:r>
              <a:rPr lang="en-US" sz="3200" b="1">
                <a:solidFill>
                  <a:srgbClr val="0070C0"/>
                </a:solidFill>
              </a:rPr>
              <a:t>INTRODUCTION</a:t>
            </a:r>
            <a:endParaRPr sz="3200">
              <a:solidFill>
                <a:srgbClr val="0070C0"/>
              </a:solidFill>
            </a:endParaRPr>
          </a:p>
        </p:txBody>
      </p:sp>
      <p:sp>
        <p:nvSpPr>
          <p:cNvPr id="161" name="Google Shape;16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62" name="Google Shape;16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63" name="Google Shape;163;p22"/>
          <p:cNvSpPr txBox="1">
            <a:spLocks noGrp="1"/>
          </p:cNvSpPr>
          <p:nvPr>
            <p:ph type="body" idx="1"/>
          </p:nvPr>
        </p:nvSpPr>
        <p:spPr>
          <a:xfrm>
            <a:off x="279401" y="1176866"/>
            <a:ext cx="11548532" cy="4944533"/>
          </a:xfrm>
          <a:prstGeom prst="rect">
            <a:avLst/>
          </a:prstGeom>
          <a:noFill/>
          <a:ln>
            <a:noFill/>
          </a:ln>
        </p:spPr>
        <p:txBody>
          <a:bodyPr spcFirstLastPara="1" wrap="square" lIns="91425" tIns="45700" rIns="91425" bIns="45700" anchor="t" anchorCtr="0">
            <a:noAutofit/>
          </a:bodyPr>
          <a:lstStyle/>
          <a:p>
            <a:pPr marL="114300" indent="0" algn="just">
              <a:lnSpc>
                <a:spcPct val="150000"/>
              </a:lnSpc>
              <a:buNone/>
            </a:pPr>
            <a:r>
              <a:rPr lang="en-IN" sz="2000" dirty="0">
                <a:latin typeface="Times New Roman" panose="02020603050405020304" pitchFamily="18" charset="0"/>
                <a:cs typeface="Times New Roman" panose="02020603050405020304" pitchFamily="18" charset="0"/>
              </a:rPr>
              <a:t>Retail businesses handle a large amount of information every day, including product details, customer information, inventory, orders, and returns. Managing these activities manually or using separate records can make it difficult to maintain accurate data, track orders, monitor stock, and understand customer purchasing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As the amount of business data increases, a proper database system becomes important for maintaining and accessing information efficiently.</a:t>
            </a:r>
          </a:p>
          <a:p>
            <a:pPr marL="114300" indent="0" algn="just">
              <a:lnSpc>
                <a:spcPct val="150000"/>
              </a:lnSpc>
              <a:buNone/>
            </a:pPr>
            <a:r>
              <a:rPr lang="en-IN" sz="2000" dirty="0">
                <a:latin typeface="Times New Roman" panose="02020603050405020304" pitchFamily="18" charset="0"/>
                <a:cs typeface="Times New Roman" panose="02020603050405020304" pitchFamily="18" charset="0"/>
              </a:rPr>
              <a:t>The proposed system provides a centralized platform for managing retail activities in an organized way. Customers can perform shopping-related activities through the web application, while administrators can manage business operations through the admin dashboard. By combining </a:t>
            </a:r>
            <a:r>
              <a:rPr lang="en-IN" sz="2000" b="1" dirty="0">
                <a:latin typeface="Times New Roman" panose="02020603050405020304" pitchFamily="18" charset="0"/>
                <a:cs typeface="Times New Roman" panose="02020603050405020304" pitchFamily="18" charset="0"/>
              </a:rPr>
              <a:t>database management, order processing, inventory management, and retail analytics</a:t>
            </a:r>
            <a:r>
              <a:rPr lang="en-IN" sz="2000" dirty="0">
                <a:latin typeface="Times New Roman" panose="02020603050405020304" pitchFamily="18" charset="0"/>
                <a:cs typeface="Times New Roman" panose="02020603050405020304" pitchFamily="18" charset="0"/>
              </a:rPr>
              <a:t>, the system provides a structured solution for improving retail operations.</a:t>
            </a:r>
          </a:p>
          <a:p>
            <a:pPr marL="228600" lvl="0" indent="-50800" algn="l" rtl="0">
              <a:lnSpc>
                <a:spcPct val="150000"/>
              </a:lnSpc>
              <a:spcBef>
                <a:spcPts val="1200"/>
              </a:spcBef>
              <a:spcAft>
                <a:spcPts val="0"/>
              </a:spcAft>
              <a:buClr>
                <a:schemeClr val="dk1"/>
              </a:buClr>
              <a:buSzPct val="100000"/>
              <a:buNone/>
            </a:pP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Calibri"/>
              <a:buNone/>
            </a:pPr>
            <a:r>
              <a:rPr lang="en-US" sz="3200" b="1">
                <a:solidFill>
                  <a:srgbClr val="0070C0"/>
                </a:solidFill>
              </a:rPr>
              <a:t>EXISTING SYSTEM</a:t>
            </a:r>
            <a:endParaRPr sz="3200">
              <a:solidFill>
                <a:srgbClr val="0070C0"/>
              </a:solidFill>
            </a:endParaRPr>
          </a:p>
        </p:txBody>
      </p:sp>
      <p:sp>
        <p:nvSpPr>
          <p:cNvPr id="170" name="Google Shape;17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71" name="Google Shape;17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72" name="Google Shape;172;p23"/>
          <p:cNvSpPr txBox="1">
            <a:spLocks noGrp="1"/>
          </p:cNvSpPr>
          <p:nvPr>
            <p:ph type="body" idx="1"/>
          </p:nvPr>
        </p:nvSpPr>
        <p:spPr>
          <a:xfrm>
            <a:off x="169333" y="1168400"/>
            <a:ext cx="11890517" cy="5442300"/>
          </a:xfrm>
          <a:prstGeom prst="rect">
            <a:avLst/>
          </a:prstGeom>
          <a:noFill/>
          <a:ln>
            <a:noFill/>
          </a:ln>
        </p:spPr>
        <p:txBody>
          <a:bodyPr spcFirstLastPara="1" wrap="square" lIns="91425" tIns="45700" rIns="91425" bIns="45700" anchor="t" anchorCtr="0">
            <a:normAutofit/>
          </a:bodyPr>
          <a:lstStyle/>
          <a:p>
            <a:pPr marL="114300" indent="0" algn="just">
              <a:lnSpc>
                <a:spcPct val="150000"/>
              </a:lnSpc>
              <a:buNone/>
            </a:pPr>
            <a:r>
              <a:rPr lang="en-IN" sz="2000" dirty="0">
                <a:latin typeface="Times New Roman" panose="02020603050405020304" pitchFamily="18" charset="0"/>
                <a:cs typeface="Times New Roman" panose="02020603050405020304" pitchFamily="18" charset="0"/>
              </a:rPr>
              <a:t>In the existing traditional system, retail activities such as product management, customer records, order processing, inventory tracking, and returns may be handled manually or through separate systems. This can result in difficulties while maintaining accurate records and updating information. Customers may also have limited access to their order details, while administrators may need to check multiple records to understand current business activities.</a:t>
            </a:r>
          </a:p>
          <a:p>
            <a:pPr marL="114300" indent="0" algn="just">
              <a:lnSpc>
                <a:spcPct val="150000"/>
              </a:lnSpc>
              <a:buNone/>
            </a:pPr>
            <a:r>
              <a:rPr lang="en-IN" sz="2000" dirty="0">
                <a:latin typeface="Times New Roman" panose="02020603050405020304" pitchFamily="18" charset="0"/>
                <a:cs typeface="Times New Roman" panose="02020603050405020304" pitchFamily="18" charset="0"/>
              </a:rPr>
              <a:t>Traditional systems also provide limited analytical support for understanding sales performance, product demand, inventory levels, and return patterns. Without a centralized database and analytics system, it becomes more difficult to identify important business information quickly. These limitations create a need for a centralized digital system that can manage retail operations and provide useful analytical information.</a:t>
            </a:r>
          </a:p>
          <a:p>
            <a:pPr marL="228600" lvl="0" indent="-50800" algn="l" rtl="0">
              <a:lnSpc>
                <a:spcPct val="90000"/>
              </a:lnSpc>
              <a:spcBef>
                <a:spcPts val="0"/>
              </a:spcBef>
              <a:spcAft>
                <a:spcPts val="0"/>
              </a:spcAft>
              <a:buClr>
                <a:schemeClr val="dk1"/>
              </a:buClr>
              <a:buSzPts val="2800"/>
              <a:buNone/>
            </a:pPr>
            <a:endParaRPr sz="2400" dirty="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Calibri"/>
              <a:buNone/>
            </a:pPr>
            <a:r>
              <a:rPr lang="en-US" sz="3200" b="1" dirty="0">
                <a:solidFill>
                  <a:srgbClr val="0070C0"/>
                </a:solidFill>
              </a:rPr>
              <a:t>PROBLEM STATEMENT</a:t>
            </a:r>
            <a:endParaRPr sz="3200" dirty="0">
              <a:solidFill>
                <a:srgbClr val="0070C0"/>
              </a:solidFill>
            </a:endParaRPr>
          </a:p>
        </p:txBody>
      </p:sp>
      <p:sp>
        <p:nvSpPr>
          <p:cNvPr id="179" name="Google Shape;17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80" name="Google Shape;18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81" name="Google Shape;181;p24"/>
          <p:cNvSpPr txBox="1">
            <a:spLocks noGrp="1"/>
          </p:cNvSpPr>
          <p:nvPr>
            <p:ph type="body" idx="1"/>
          </p:nvPr>
        </p:nvSpPr>
        <p:spPr>
          <a:xfrm>
            <a:off x="262467" y="1270000"/>
            <a:ext cx="11763708" cy="5086350"/>
          </a:xfrm>
          <a:prstGeom prst="rect">
            <a:avLst/>
          </a:prstGeom>
          <a:noFill/>
          <a:ln>
            <a:noFill/>
          </a:ln>
        </p:spPr>
        <p:txBody>
          <a:bodyPr spcFirstLastPara="1" wrap="square" lIns="91425" tIns="45700" rIns="91425" bIns="45700" anchor="t" anchorCtr="0">
            <a:normAutofit/>
          </a:bodyPr>
          <a:lstStyle/>
          <a:p>
            <a:pPr marL="114300" indent="0" algn="just">
              <a:lnSpc>
                <a:spcPct val="150000"/>
              </a:lnSpc>
              <a:buNone/>
            </a:pPr>
            <a:r>
              <a:rPr lang="en-IN" sz="2000" dirty="0">
                <a:latin typeface="Times New Roman" panose="02020603050405020304" pitchFamily="18" charset="0"/>
                <a:cs typeface="Times New Roman" panose="02020603050405020304" pitchFamily="18" charset="0"/>
              </a:rPr>
              <a:t>Retail businesses need to manage different activities such as product management, inventory monitoring, customer management, order processing, and returns. When these activities are handled manually or through disconnected records, problems such as data duplication, incorrect information, stock management difficulties, delayed order updates, and inefficient return processing can occur.</a:t>
            </a:r>
          </a:p>
          <a:p>
            <a:pPr marL="114300" indent="0" algn="just">
              <a:lnSpc>
                <a:spcPct val="150000"/>
              </a:lnSpc>
              <a:buNone/>
            </a:pPr>
            <a:r>
              <a:rPr lang="en-IN" sz="2000" dirty="0">
                <a:latin typeface="Times New Roman" panose="02020603050405020304" pitchFamily="18" charset="0"/>
                <a:cs typeface="Times New Roman" panose="02020603050405020304" pitchFamily="18" charset="0"/>
              </a:rPr>
              <a:t>Another major challenge is understanding business performance from the available data. Administrators need information about sales, revenue, order trends, product performance, and returns to monitor business activities effectively. Therefore, there is a need for a centralized database system that manages retail operations and provides analytics and decision-support information.</a:t>
            </a:r>
          </a:p>
          <a:p>
            <a:pPr marL="228600" lvl="0" indent="-50800" algn="l" rtl="0">
              <a:lnSpc>
                <a:spcPct val="90000"/>
              </a:lnSpc>
              <a:spcBef>
                <a:spcPts val="0"/>
              </a:spcBef>
              <a:spcAft>
                <a:spcPts val="0"/>
              </a:spcAft>
              <a:buClr>
                <a:schemeClr val="dk1"/>
              </a:buClr>
              <a:buSzPts val="2800"/>
              <a:buNone/>
            </a:pPr>
            <a:endParaRPr sz="2400" u="sng"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Calibri"/>
              <a:buNone/>
            </a:pPr>
            <a:r>
              <a:rPr lang="en-US" sz="3200" b="1">
                <a:solidFill>
                  <a:srgbClr val="0070C0"/>
                </a:solidFill>
              </a:rPr>
              <a:t>SOLUTION(Contribution)</a:t>
            </a:r>
            <a:endParaRPr sz="3200">
              <a:solidFill>
                <a:srgbClr val="0070C0"/>
              </a:solidFill>
            </a:endParaRPr>
          </a:p>
        </p:txBody>
      </p:sp>
      <p:sp>
        <p:nvSpPr>
          <p:cNvPr id="188" name="Google Shape;18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89" name="Google Shape;18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90" name="Google Shape;190;p25"/>
          <p:cNvSpPr txBox="1">
            <a:spLocks noGrp="1"/>
          </p:cNvSpPr>
          <p:nvPr>
            <p:ph type="body" idx="1"/>
          </p:nvPr>
        </p:nvSpPr>
        <p:spPr>
          <a:xfrm>
            <a:off x="304800" y="1363133"/>
            <a:ext cx="11573933" cy="4993217"/>
          </a:xfrm>
          <a:prstGeom prst="rect">
            <a:avLst/>
          </a:prstGeom>
          <a:noFill/>
          <a:ln>
            <a:noFill/>
          </a:ln>
        </p:spPr>
        <p:txBody>
          <a:bodyPr spcFirstLastPara="1" wrap="square" lIns="91425" tIns="45700" rIns="91425" bIns="45700" anchor="t" anchorCtr="0">
            <a:normAutofit fontScale="92500"/>
          </a:bodyPr>
          <a:lstStyle/>
          <a:p>
            <a:pPr marL="114300" indent="0" algn="just">
              <a:lnSpc>
                <a:spcPct val="150000"/>
              </a:lnSpc>
              <a:buNone/>
            </a:pPr>
            <a:r>
              <a:rPr lang="en-IN" sz="2200" dirty="0">
                <a:latin typeface="Times New Roman" panose="02020603050405020304" pitchFamily="18" charset="0"/>
                <a:cs typeface="Times New Roman" panose="02020603050405020304" pitchFamily="18" charset="0"/>
              </a:rPr>
              <a:t>The proposed </a:t>
            </a:r>
            <a:r>
              <a:rPr lang="en-IN" sz="2200" b="1" dirty="0">
                <a:latin typeface="Times New Roman" panose="02020603050405020304" pitchFamily="18" charset="0"/>
                <a:cs typeface="Times New Roman" panose="02020603050405020304" pitchFamily="18" charset="0"/>
              </a:rPr>
              <a:t>Digital Order Management with Database System and Retail Analytics</a:t>
            </a:r>
            <a:r>
              <a:rPr lang="en-IN" sz="2200" dirty="0">
                <a:latin typeface="Times New Roman" panose="02020603050405020304" pitchFamily="18" charset="0"/>
                <a:cs typeface="Times New Roman" panose="02020603050405020304" pitchFamily="18" charset="0"/>
              </a:rPr>
              <a:t> provides a centralized platform for managing retail operations. Customers can register, log in, browse products, search products, view product details, add products to their cart, complete checkout, place orders, track orders, view order history, and request returns. Customer and order information is stored and managed through the database.</a:t>
            </a:r>
          </a:p>
          <a:p>
            <a:pPr marL="114300" indent="0" algn="just">
              <a:lnSpc>
                <a:spcPct val="150000"/>
              </a:lnSpc>
              <a:buNone/>
            </a:pPr>
            <a:r>
              <a:rPr lang="en-IN" sz="2200" dirty="0">
                <a:latin typeface="Times New Roman" panose="02020603050405020304" pitchFamily="18" charset="0"/>
                <a:cs typeface="Times New Roman" panose="02020603050405020304" pitchFamily="18" charset="0"/>
              </a:rPr>
              <a:t>The system also provides an administrator dashboard for managing products, inventory, customers, orders, and returns. The Retail Analytics module presents information such as sales, revenue, order trends, and product performance using visual charts. The Business Decision Support module </a:t>
            </a:r>
            <a:r>
              <a:rPr lang="en-IN" sz="2200" dirty="0" err="1">
                <a:latin typeface="Times New Roman" panose="02020603050405020304" pitchFamily="18" charset="0"/>
                <a:cs typeface="Times New Roman" panose="02020603050405020304" pitchFamily="18" charset="0"/>
              </a:rPr>
              <a:t>analyzes</a:t>
            </a:r>
            <a:r>
              <a:rPr lang="en-IN" sz="2200" dirty="0">
                <a:latin typeface="Times New Roman" panose="02020603050405020304" pitchFamily="18" charset="0"/>
                <a:cs typeface="Times New Roman" panose="02020603050405020304" pitchFamily="18" charset="0"/>
              </a:rPr>
              <a:t> available business data and provides useful insights and recommendations related to inventory, sales, orders, and returns.</a:t>
            </a:r>
          </a:p>
          <a:p>
            <a:pPr marL="228600" lvl="0" indent="-50800" algn="l" rtl="0">
              <a:lnSpc>
                <a:spcPct val="115000"/>
              </a:lnSpc>
              <a:spcBef>
                <a:spcPts val="0"/>
              </a:spcBef>
              <a:spcAft>
                <a:spcPts val="0"/>
              </a:spcAft>
              <a:buClr>
                <a:schemeClr val="dk1"/>
              </a:buClr>
              <a:buSzPts val="2800"/>
              <a:buNone/>
            </a:pPr>
            <a:endParaRPr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6"/>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600"/>
              <a:buFont typeface="Calibri"/>
              <a:buNone/>
            </a:pPr>
            <a:r>
              <a:rPr lang="en-US" sz="3600" b="1">
                <a:solidFill>
                  <a:srgbClr val="0070C0"/>
                </a:solidFill>
              </a:rPr>
              <a:t>Objectives </a:t>
            </a:r>
            <a:endParaRPr sz="3600">
              <a:solidFill>
                <a:srgbClr val="0070C0"/>
              </a:solidFill>
            </a:endParaRPr>
          </a:p>
        </p:txBody>
      </p:sp>
      <p:sp>
        <p:nvSpPr>
          <p:cNvPr id="197" name="Google Shape;19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198" name="Google Shape;19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99" name="Google Shape;199;p26"/>
          <p:cNvSpPr txBox="1">
            <a:spLocks noGrp="1"/>
          </p:cNvSpPr>
          <p:nvPr>
            <p:ph type="body" idx="1"/>
          </p:nvPr>
        </p:nvSpPr>
        <p:spPr>
          <a:xfrm>
            <a:off x="482601" y="897467"/>
            <a:ext cx="11624732" cy="7281332"/>
          </a:xfrm>
          <a:prstGeom prst="rect">
            <a:avLst/>
          </a:prstGeom>
          <a:noFill/>
          <a:ln>
            <a:noFill/>
          </a:ln>
        </p:spPr>
        <p:txBody>
          <a:bodyPr spcFirstLastPara="1" wrap="square" lIns="91425" tIns="45700" rIns="91425" bIns="45700" anchor="t" anchorCtr="0">
            <a:noAutofit/>
          </a:bodyPr>
          <a:lstStyle/>
          <a:p>
            <a:pPr lvl="0" algn="just">
              <a:lnSpc>
                <a:spcPct val="150000"/>
              </a:lnSpc>
            </a:pPr>
            <a:r>
              <a:rPr lang="en-IN" sz="1800" dirty="0">
                <a:latin typeface="Times New Roman" panose="02020603050405020304" pitchFamily="18" charset="0"/>
                <a:cs typeface="Times New Roman" panose="02020603050405020304" pitchFamily="18" charset="0"/>
              </a:rPr>
              <a:t>To develop a centralized database system for retail order management. </a:t>
            </a:r>
          </a:p>
          <a:p>
            <a:pPr lvl="0" algn="just">
              <a:lnSpc>
                <a:spcPct val="150000"/>
              </a:lnSpc>
            </a:pPr>
            <a:r>
              <a:rPr lang="en-IN" sz="1800" dirty="0">
                <a:latin typeface="Times New Roman" panose="02020603050405020304" pitchFamily="18" charset="0"/>
                <a:cs typeface="Times New Roman" panose="02020603050405020304" pitchFamily="18" charset="0"/>
              </a:rPr>
              <a:t>To reduce manual work in managing products, customers, orders, and inventory. </a:t>
            </a:r>
          </a:p>
          <a:p>
            <a:pPr lvl="0" algn="just">
              <a:lnSpc>
                <a:spcPct val="150000"/>
              </a:lnSpc>
            </a:pPr>
            <a:r>
              <a:rPr lang="en-IN" sz="1800" dirty="0">
                <a:latin typeface="Times New Roman" panose="02020603050405020304" pitchFamily="18" charset="0"/>
                <a:cs typeface="Times New Roman" panose="02020603050405020304" pitchFamily="18" charset="0"/>
              </a:rPr>
              <a:t>To provide secure authentication for customers and administrators. </a:t>
            </a:r>
          </a:p>
          <a:p>
            <a:pPr lvl="0" algn="just">
              <a:lnSpc>
                <a:spcPct val="150000"/>
              </a:lnSpc>
            </a:pPr>
            <a:r>
              <a:rPr lang="en-IN" sz="1800" dirty="0">
                <a:latin typeface="Times New Roman" panose="02020603050405020304" pitchFamily="18" charset="0"/>
                <a:cs typeface="Times New Roman" panose="02020603050405020304" pitchFamily="18" charset="0"/>
              </a:rPr>
              <a:t>To allow customers to browse, search, and purchase products easily. </a:t>
            </a:r>
          </a:p>
          <a:p>
            <a:pPr lvl="0" algn="just">
              <a:lnSpc>
                <a:spcPct val="150000"/>
              </a:lnSpc>
            </a:pPr>
            <a:r>
              <a:rPr lang="en-IN" sz="1800" dirty="0">
                <a:latin typeface="Times New Roman" panose="02020603050405020304" pitchFamily="18" charset="0"/>
                <a:cs typeface="Times New Roman" panose="02020603050405020304" pitchFamily="18" charset="0"/>
              </a:rPr>
              <a:t>To manage the complete order lifecycle from placement to delivery or cancellation. </a:t>
            </a:r>
          </a:p>
          <a:p>
            <a:pPr lvl="0" algn="just">
              <a:lnSpc>
                <a:spcPct val="150000"/>
              </a:lnSpc>
            </a:pPr>
            <a:r>
              <a:rPr lang="en-IN" sz="1800" dirty="0">
                <a:latin typeface="Times New Roman" panose="02020603050405020304" pitchFamily="18" charset="0"/>
                <a:cs typeface="Times New Roman" panose="02020603050405020304" pitchFamily="18" charset="0"/>
              </a:rPr>
              <a:t>To provide an organized system for handling product returns. </a:t>
            </a:r>
          </a:p>
          <a:p>
            <a:pPr lvl="0" algn="just">
              <a:lnSpc>
                <a:spcPct val="150000"/>
              </a:lnSpc>
            </a:pPr>
            <a:r>
              <a:rPr lang="en-IN" sz="1800" dirty="0">
                <a:latin typeface="Times New Roman" panose="02020603050405020304" pitchFamily="18" charset="0"/>
                <a:cs typeface="Times New Roman" panose="02020603050405020304" pitchFamily="18" charset="0"/>
              </a:rPr>
              <a:t>To maintain accurate product and inventory information. </a:t>
            </a:r>
          </a:p>
          <a:p>
            <a:pPr lvl="0" algn="just">
              <a:lnSpc>
                <a:spcPct val="150000"/>
              </a:lnSpc>
            </a:pPr>
            <a:r>
              <a:rPr lang="en-IN" sz="1800" dirty="0">
                <a:latin typeface="Times New Roman" panose="02020603050405020304" pitchFamily="18" charset="0"/>
                <a:cs typeface="Times New Roman" panose="02020603050405020304" pitchFamily="18" charset="0"/>
              </a:rPr>
              <a:t>To provide analytics for sales, revenue, orders, and product performance. </a:t>
            </a:r>
          </a:p>
          <a:p>
            <a:pPr lvl="0" algn="just">
              <a:lnSpc>
                <a:spcPct val="150000"/>
              </a:lnSpc>
            </a:pPr>
            <a:r>
              <a:rPr lang="en-IN" sz="1800" dirty="0">
                <a:latin typeface="Times New Roman" panose="02020603050405020304" pitchFamily="18" charset="0"/>
                <a:cs typeface="Times New Roman" panose="02020603050405020304" pitchFamily="18" charset="0"/>
              </a:rPr>
              <a:t>To provide business insights using the Decision Support module. </a:t>
            </a:r>
          </a:p>
          <a:p>
            <a:pPr lvl="0" algn="just">
              <a:lnSpc>
                <a:spcPct val="150000"/>
              </a:lnSpc>
            </a:pPr>
            <a:r>
              <a:rPr lang="en-IN" sz="1800" dirty="0">
                <a:latin typeface="Times New Roman" panose="02020603050405020304" pitchFamily="18" charset="0"/>
                <a:cs typeface="Times New Roman" panose="02020603050405020304" pitchFamily="18" charset="0"/>
              </a:rPr>
              <a:t>To support better operational decision-making using stored business data</a:t>
            </a:r>
            <a:r>
              <a:rPr lang="en-US" sz="1800" dirty="0">
                <a:latin typeface="Times New Roman" panose="02020603050405020304" pitchFamily="18" charset="0"/>
                <a:ea typeface="Arial"/>
                <a:cs typeface="Times New Roman" panose="02020603050405020304" pitchFamily="18" charset="0"/>
                <a:sym typeface="Arial"/>
              </a:rPr>
              <a:t>.</a:t>
            </a:r>
            <a:endParaRPr sz="1800" dirty="0">
              <a:latin typeface="Times New Roman" panose="02020603050405020304" pitchFamily="18" charset="0"/>
              <a:ea typeface="Arial"/>
              <a:cs typeface="Times New Roman" panose="02020603050405020304" pitchFamily="18" charset="0"/>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600"/>
              <a:buFont typeface="Calibri"/>
              <a:buNone/>
            </a:pPr>
            <a:r>
              <a:rPr lang="en-US" sz="3600" b="1">
                <a:solidFill>
                  <a:srgbClr val="0070C0"/>
                </a:solidFill>
              </a:rPr>
              <a:t>Modules</a:t>
            </a:r>
            <a:endParaRPr sz="3600">
              <a:solidFill>
                <a:srgbClr val="0070C0"/>
              </a:solidFill>
            </a:endParaRPr>
          </a:p>
        </p:txBody>
      </p:sp>
      <p:sp>
        <p:nvSpPr>
          <p:cNvPr id="206" name="Google Shape;20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207" name="Google Shape;2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08" name="Google Shape;208;p27"/>
          <p:cNvSpPr txBox="1">
            <a:spLocks noGrp="1"/>
          </p:cNvSpPr>
          <p:nvPr>
            <p:ph type="body" idx="1"/>
          </p:nvPr>
        </p:nvSpPr>
        <p:spPr>
          <a:xfrm>
            <a:off x="660399" y="1498600"/>
            <a:ext cx="11142133" cy="4529667"/>
          </a:xfrm>
          <a:prstGeom prst="rect">
            <a:avLst/>
          </a:prstGeom>
          <a:noFill/>
          <a:ln>
            <a:noFill/>
          </a:ln>
        </p:spPr>
        <p:txBody>
          <a:bodyPr spcFirstLastPara="1" wrap="square" lIns="91425" tIns="45700" rIns="91425" bIns="45700" anchor="t" anchorCtr="0">
            <a:normAutofit fontScale="55000" lnSpcReduction="20000"/>
          </a:bodyPr>
          <a:lstStyle/>
          <a:p>
            <a:pPr algn="just">
              <a:lnSpc>
                <a:spcPct val="120000"/>
              </a:lnSpc>
            </a:pPr>
            <a:r>
              <a:rPr lang="en-IN" sz="3300" b="1" dirty="0">
                <a:latin typeface="Times New Roman" panose="02020603050405020304" pitchFamily="18" charset="0"/>
                <a:cs typeface="Times New Roman" panose="02020603050405020304" pitchFamily="18" charset="0"/>
              </a:rPr>
              <a:t>User Access &amp; Role Management</a:t>
            </a:r>
            <a:r>
              <a:rPr lang="en-IN" sz="3300" dirty="0">
                <a:latin typeface="Times New Roman" panose="02020603050405020304" pitchFamily="18" charset="0"/>
                <a:cs typeface="Times New Roman" panose="02020603050405020304" pitchFamily="18" charset="0"/>
              </a:rPr>
              <a:t> — Secure registration, login, JWT authentication, and role-based access for customers and administrators.</a:t>
            </a:r>
          </a:p>
          <a:p>
            <a:pPr algn="just">
              <a:lnSpc>
                <a:spcPct val="120000"/>
              </a:lnSpc>
            </a:pPr>
            <a:r>
              <a:rPr lang="en-IN" sz="3300" b="1" dirty="0">
                <a:latin typeface="Times New Roman" panose="02020603050405020304" pitchFamily="18" charset="0"/>
                <a:cs typeface="Times New Roman" panose="02020603050405020304" pitchFamily="18" charset="0"/>
              </a:rPr>
              <a:t>Product Management</a:t>
            </a:r>
            <a:r>
              <a:rPr lang="en-IN" sz="3300" dirty="0">
                <a:latin typeface="Times New Roman" panose="02020603050405020304" pitchFamily="18" charset="0"/>
                <a:cs typeface="Times New Roman" panose="02020603050405020304" pitchFamily="18" charset="0"/>
              </a:rPr>
              <a:t> — Manages product details, categories, prices, stock, and product operations.</a:t>
            </a:r>
          </a:p>
          <a:p>
            <a:pPr algn="just">
              <a:lnSpc>
                <a:spcPct val="120000"/>
              </a:lnSpc>
            </a:pPr>
            <a:r>
              <a:rPr lang="en-IN" sz="3300" b="1" dirty="0">
                <a:latin typeface="Times New Roman" panose="02020603050405020304" pitchFamily="18" charset="0"/>
                <a:cs typeface="Times New Roman" panose="02020603050405020304" pitchFamily="18" charset="0"/>
              </a:rPr>
              <a:t>Cart &amp; Checkout</a:t>
            </a:r>
            <a:r>
              <a:rPr lang="en-IN" sz="3300" dirty="0">
                <a:latin typeface="Times New Roman" panose="02020603050405020304" pitchFamily="18" charset="0"/>
                <a:cs typeface="Times New Roman" panose="02020603050405020304" pitchFamily="18" charset="0"/>
              </a:rPr>
              <a:t> — Allows customers to manage cart items, calculate the order total, and place orders.</a:t>
            </a:r>
          </a:p>
          <a:p>
            <a:pPr algn="just">
              <a:lnSpc>
                <a:spcPct val="120000"/>
              </a:lnSpc>
            </a:pPr>
            <a:r>
              <a:rPr lang="en-IN" sz="3300" b="1" dirty="0">
                <a:latin typeface="Times New Roman" panose="02020603050405020304" pitchFamily="18" charset="0"/>
                <a:cs typeface="Times New Roman" panose="02020603050405020304" pitchFamily="18" charset="0"/>
              </a:rPr>
              <a:t>Order Management</a:t>
            </a:r>
            <a:r>
              <a:rPr lang="en-IN" sz="3300" dirty="0">
                <a:latin typeface="Times New Roman" panose="02020603050405020304" pitchFamily="18" charset="0"/>
                <a:cs typeface="Times New Roman" panose="02020603050405020304" pitchFamily="18" charset="0"/>
              </a:rPr>
              <a:t> — Handles order placement, order history, order details, tracking, and status updates.</a:t>
            </a:r>
          </a:p>
          <a:p>
            <a:pPr algn="just">
              <a:lnSpc>
                <a:spcPct val="120000"/>
              </a:lnSpc>
            </a:pPr>
            <a:r>
              <a:rPr lang="en-IN" sz="3300" b="1" dirty="0">
                <a:latin typeface="Times New Roman" panose="02020603050405020304" pitchFamily="18" charset="0"/>
                <a:cs typeface="Times New Roman" panose="02020603050405020304" pitchFamily="18" charset="0"/>
              </a:rPr>
              <a:t>Inventory Management</a:t>
            </a:r>
            <a:r>
              <a:rPr lang="en-IN" sz="3300" dirty="0">
                <a:latin typeface="Times New Roman" panose="02020603050405020304" pitchFamily="18" charset="0"/>
                <a:cs typeface="Times New Roman" panose="02020603050405020304" pitchFamily="18" charset="0"/>
              </a:rPr>
              <a:t> — Monitors stock levels and identifies low-stock and out-of-stock products.</a:t>
            </a:r>
          </a:p>
          <a:p>
            <a:pPr algn="just">
              <a:lnSpc>
                <a:spcPct val="120000"/>
              </a:lnSpc>
            </a:pPr>
            <a:r>
              <a:rPr lang="en-IN" sz="3300" b="1" dirty="0">
                <a:latin typeface="Times New Roman" panose="02020603050405020304" pitchFamily="18" charset="0"/>
                <a:cs typeface="Times New Roman" panose="02020603050405020304" pitchFamily="18" charset="0"/>
              </a:rPr>
              <a:t>Customer Management</a:t>
            </a:r>
            <a:r>
              <a:rPr lang="en-IN" sz="3300" dirty="0">
                <a:latin typeface="Times New Roman" panose="02020603050405020304" pitchFamily="18" charset="0"/>
                <a:cs typeface="Times New Roman" panose="02020603050405020304" pitchFamily="18" charset="0"/>
              </a:rPr>
              <a:t> — Manages customer information, orders, and spending details.</a:t>
            </a:r>
          </a:p>
          <a:p>
            <a:pPr algn="just">
              <a:lnSpc>
                <a:spcPct val="120000"/>
              </a:lnSpc>
            </a:pPr>
            <a:r>
              <a:rPr lang="en-IN" sz="3300" b="1" dirty="0">
                <a:latin typeface="Times New Roman" panose="02020603050405020304" pitchFamily="18" charset="0"/>
                <a:cs typeface="Times New Roman" panose="02020603050405020304" pitchFamily="18" charset="0"/>
              </a:rPr>
              <a:t>Return Management</a:t>
            </a:r>
            <a:r>
              <a:rPr lang="en-IN" sz="3300" dirty="0">
                <a:latin typeface="Times New Roman" panose="02020603050405020304" pitchFamily="18" charset="0"/>
                <a:cs typeface="Times New Roman" panose="02020603050405020304" pitchFamily="18" charset="0"/>
              </a:rPr>
              <a:t> — Allows customers to request returns and administrators to manage return requests.</a:t>
            </a:r>
          </a:p>
          <a:p>
            <a:pPr algn="just">
              <a:lnSpc>
                <a:spcPct val="120000"/>
              </a:lnSpc>
            </a:pPr>
            <a:r>
              <a:rPr lang="en-IN" sz="3300" b="1" dirty="0">
                <a:latin typeface="Times New Roman" panose="02020603050405020304" pitchFamily="18" charset="0"/>
                <a:cs typeface="Times New Roman" panose="02020603050405020304" pitchFamily="18" charset="0"/>
              </a:rPr>
              <a:t>Loyalty &amp; Rewards</a:t>
            </a:r>
            <a:r>
              <a:rPr lang="en-IN" sz="3300" dirty="0">
                <a:latin typeface="Times New Roman" panose="02020603050405020304" pitchFamily="18" charset="0"/>
                <a:cs typeface="Times New Roman" panose="02020603050405020304" pitchFamily="18" charset="0"/>
              </a:rPr>
              <a:t> — Provides a points-based system for managing customer rewards and engagement.</a:t>
            </a:r>
          </a:p>
          <a:p>
            <a:pPr algn="just">
              <a:lnSpc>
                <a:spcPct val="120000"/>
              </a:lnSpc>
            </a:pPr>
            <a:r>
              <a:rPr lang="en-IN" sz="3300" b="1" dirty="0">
                <a:latin typeface="Times New Roman" panose="02020603050405020304" pitchFamily="18" charset="0"/>
                <a:cs typeface="Times New Roman" panose="02020603050405020304" pitchFamily="18" charset="0"/>
              </a:rPr>
              <a:t>Retail Analytics</a:t>
            </a:r>
            <a:r>
              <a:rPr lang="en-IN" sz="3300" dirty="0">
                <a:latin typeface="Times New Roman" panose="02020603050405020304" pitchFamily="18" charset="0"/>
                <a:cs typeface="Times New Roman" panose="02020603050405020304" pitchFamily="18" charset="0"/>
              </a:rPr>
              <a:t> — Displays sales, revenue, order trends, product performance, and return information.</a:t>
            </a:r>
          </a:p>
          <a:p>
            <a:pPr algn="just">
              <a:lnSpc>
                <a:spcPct val="120000"/>
              </a:lnSpc>
            </a:pPr>
            <a:r>
              <a:rPr lang="en-IN" sz="3300" b="1" dirty="0">
                <a:latin typeface="Times New Roman" panose="02020603050405020304" pitchFamily="18" charset="0"/>
                <a:cs typeface="Times New Roman" panose="02020603050405020304" pitchFamily="18" charset="0"/>
              </a:rPr>
              <a:t>Business Decision Support</a:t>
            </a:r>
            <a:r>
              <a:rPr lang="en-IN" sz="3300" dirty="0">
                <a:latin typeface="Times New Roman" panose="02020603050405020304" pitchFamily="18" charset="0"/>
                <a:cs typeface="Times New Roman" panose="02020603050405020304" pitchFamily="18" charset="0"/>
              </a:rPr>
              <a:t> — Provides useful business insights and recommendations based on retail data</a:t>
            </a:r>
          </a:p>
          <a:p>
            <a:pPr marL="87630" lvl="0" indent="0" algn="l" rtl="0">
              <a:lnSpc>
                <a:spcPct val="100000"/>
              </a:lnSpc>
              <a:spcBef>
                <a:spcPts val="0"/>
              </a:spcBef>
              <a:spcAft>
                <a:spcPts val="0"/>
              </a:spcAft>
              <a:buSzPct val="1000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Calibri"/>
              <a:buNone/>
            </a:pPr>
            <a:r>
              <a:rPr lang="en-US" sz="3200" b="1">
                <a:solidFill>
                  <a:srgbClr val="0070C0"/>
                </a:solidFill>
              </a:rPr>
              <a:t>SOFTWARE REQUIREMENTS </a:t>
            </a:r>
            <a:endParaRPr sz="3200">
              <a:solidFill>
                <a:srgbClr val="0070C0"/>
              </a:solidFill>
            </a:endParaRPr>
          </a:p>
        </p:txBody>
      </p:sp>
      <p:sp>
        <p:nvSpPr>
          <p:cNvPr id="215" name="Google Shape;21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a:t>
            </a:r>
            <a:endParaRPr/>
          </a:p>
        </p:txBody>
      </p:sp>
      <p:sp>
        <p:nvSpPr>
          <p:cNvPr id="216" name="Google Shape;21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17" name="Google Shape;217;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47500" lnSpcReduction="20000"/>
          </a:bodyPr>
          <a:lstStyle/>
          <a:p>
            <a:pPr algn="just"/>
            <a:r>
              <a:rPr lang="en-IN" sz="3300" b="1" dirty="0">
                <a:latin typeface="Times New Roman" panose="02020603050405020304" pitchFamily="18" charset="0"/>
                <a:cs typeface="Times New Roman" panose="02020603050405020304" pitchFamily="18" charset="0"/>
              </a:rPr>
              <a:t>Operating System</a:t>
            </a:r>
            <a:r>
              <a:rPr lang="en-IN" sz="3300" dirty="0">
                <a:latin typeface="Times New Roman" panose="02020603050405020304" pitchFamily="18" charset="0"/>
                <a:cs typeface="Times New Roman" panose="02020603050405020304" pitchFamily="18" charset="0"/>
              </a:rPr>
              <a:t> — Windows 10/11 is used for developing and running the project.</a:t>
            </a:r>
          </a:p>
          <a:p>
            <a:pPr algn="just"/>
            <a:r>
              <a:rPr lang="en-IN" sz="3300" b="1" dirty="0">
                <a:latin typeface="Times New Roman" panose="02020603050405020304" pitchFamily="18" charset="0"/>
                <a:cs typeface="Times New Roman" panose="02020603050405020304" pitchFamily="18" charset="0"/>
              </a:rPr>
              <a:t>Visual Studio Code</a:t>
            </a:r>
            <a:r>
              <a:rPr lang="en-IN" sz="3300" dirty="0">
                <a:latin typeface="Times New Roman" panose="02020603050405020304" pitchFamily="18" charset="0"/>
                <a:cs typeface="Times New Roman" panose="02020603050405020304" pitchFamily="18" charset="0"/>
              </a:rPr>
              <a:t> — Used for writing, editing, and managing the project code.</a:t>
            </a:r>
          </a:p>
          <a:p>
            <a:pPr algn="just"/>
            <a:r>
              <a:rPr lang="en-IN" sz="3300" b="1" dirty="0">
                <a:latin typeface="Times New Roman" panose="02020603050405020304" pitchFamily="18" charset="0"/>
                <a:cs typeface="Times New Roman" panose="02020603050405020304" pitchFamily="18" charset="0"/>
              </a:rPr>
              <a:t>React.js</a:t>
            </a:r>
            <a:r>
              <a:rPr lang="en-IN" sz="3300" dirty="0">
                <a:latin typeface="Times New Roman" panose="02020603050405020304" pitchFamily="18" charset="0"/>
                <a:cs typeface="Times New Roman" panose="02020603050405020304" pitchFamily="18" charset="0"/>
              </a:rPr>
              <a:t> — Used to develop the frontend and user interface of the web application.</a:t>
            </a:r>
          </a:p>
          <a:p>
            <a:pPr algn="just"/>
            <a:r>
              <a:rPr lang="en-IN" sz="3300" b="1" dirty="0">
                <a:latin typeface="Times New Roman" panose="02020603050405020304" pitchFamily="18" charset="0"/>
                <a:cs typeface="Times New Roman" panose="02020603050405020304" pitchFamily="18" charset="0"/>
              </a:rPr>
              <a:t>Chart.js</a:t>
            </a:r>
            <a:r>
              <a:rPr lang="en-IN" sz="3300" dirty="0">
                <a:latin typeface="Times New Roman" panose="02020603050405020304" pitchFamily="18" charset="0"/>
                <a:cs typeface="Times New Roman" panose="02020603050405020304" pitchFamily="18" charset="0"/>
              </a:rPr>
              <a:t> — Used to display sales, revenue, product, and order analytics through charts.</a:t>
            </a:r>
          </a:p>
          <a:p>
            <a:pPr algn="just"/>
            <a:r>
              <a:rPr lang="en-IN" sz="3300" b="1" dirty="0">
                <a:latin typeface="Times New Roman" panose="02020603050405020304" pitchFamily="18" charset="0"/>
                <a:cs typeface="Times New Roman" panose="02020603050405020304" pitchFamily="18" charset="0"/>
              </a:rPr>
              <a:t>Node.js</a:t>
            </a:r>
            <a:r>
              <a:rPr lang="en-IN" sz="3300" dirty="0">
                <a:latin typeface="Times New Roman" panose="02020603050405020304" pitchFamily="18" charset="0"/>
                <a:cs typeface="Times New Roman" panose="02020603050405020304" pitchFamily="18" charset="0"/>
              </a:rPr>
              <a:t> — Used to run the backend application and server-side JavaScript.</a:t>
            </a:r>
          </a:p>
          <a:p>
            <a:pPr algn="just"/>
            <a:r>
              <a:rPr lang="en-IN" sz="3300" b="1" dirty="0">
                <a:latin typeface="Times New Roman" panose="02020603050405020304" pitchFamily="18" charset="0"/>
                <a:cs typeface="Times New Roman" panose="02020603050405020304" pitchFamily="18" charset="0"/>
              </a:rPr>
              <a:t>Express.js</a:t>
            </a:r>
            <a:r>
              <a:rPr lang="en-IN" sz="3300" dirty="0">
                <a:latin typeface="Times New Roman" panose="02020603050405020304" pitchFamily="18" charset="0"/>
                <a:cs typeface="Times New Roman" panose="02020603050405020304" pitchFamily="18" charset="0"/>
              </a:rPr>
              <a:t> — Used to create the backend server and REST APIs.</a:t>
            </a:r>
          </a:p>
          <a:p>
            <a:pPr algn="just"/>
            <a:r>
              <a:rPr lang="en-IN" sz="3300" b="1" dirty="0" err="1">
                <a:latin typeface="Times New Roman" panose="02020603050405020304" pitchFamily="18" charset="0"/>
                <a:cs typeface="Times New Roman" panose="02020603050405020304" pitchFamily="18" charset="0"/>
              </a:rPr>
              <a:t>Sequelize</a:t>
            </a:r>
            <a:r>
              <a:rPr lang="en-IN" sz="3300" b="1" dirty="0">
                <a:latin typeface="Times New Roman" panose="02020603050405020304" pitchFamily="18" charset="0"/>
                <a:cs typeface="Times New Roman" panose="02020603050405020304" pitchFamily="18" charset="0"/>
              </a:rPr>
              <a:t> ORM</a:t>
            </a:r>
            <a:r>
              <a:rPr lang="en-IN" sz="3300" dirty="0">
                <a:latin typeface="Times New Roman" panose="02020603050405020304" pitchFamily="18" charset="0"/>
                <a:cs typeface="Times New Roman" panose="02020603050405020304" pitchFamily="18" charset="0"/>
              </a:rPr>
              <a:t> — Used to connect the Node.js backend with the MySQL database and manage database operations.</a:t>
            </a:r>
          </a:p>
          <a:p>
            <a:pPr algn="just"/>
            <a:r>
              <a:rPr lang="en-IN" sz="3300" b="1" dirty="0">
                <a:latin typeface="Times New Roman" panose="02020603050405020304" pitchFamily="18" charset="0"/>
                <a:cs typeface="Times New Roman" panose="02020603050405020304" pitchFamily="18" charset="0"/>
              </a:rPr>
              <a:t>JWT Authentication</a:t>
            </a:r>
            <a:r>
              <a:rPr lang="en-IN" sz="3300" dirty="0">
                <a:latin typeface="Times New Roman" panose="02020603050405020304" pitchFamily="18" charset="0"/>
                <a:cs typeface="Times New Roman" panose="02020603050405020304" pitchFamily="18" charset="0"/>
              </a:rPr>
              <a:t> — Used to provide secure authentication and role-based access.</a:t>
            </a:r>
          </a:p>
          <a:p>
            <a:pPr algn="just"/>
            <a:r>
              <a:rPr lang="en-IN" sz="3300" b="1" dirty="0">
                <a:latin typeface="Times New Roman" panose="02020603050405020304" pitchFamily="18" charset="0"/>
                <a:cs typeface="Times New Roman" panose="02020603050405020304" pitchFamily="18" charset="0"/>
              </a:rPr>
              <a:t>MySQL</a:t>
            </a:r>
            <a:r>
              <a:rPr lang="en-IN" sz="3300" dirty="0">
                <a:latin typeface="Times New Roman" panose="02020603050405020304" pitchFamily="18" charset="0"/>
                <a:cs typeface="Times New Roman" panose="02020603050405020304" pitchFamily="18" charset="0"/>
              </a:rPr>
              <a:t> — Used to store users, products, orders, order items, and return information.</a:t>
            </a:r>
          </a:p>
          <a:p>
            <a:pPr algn="just"/>
            <a:r>
              <a:rPr lang="en-IN" sz="3300" b="1" dirty="0">
                <a:latin typeface="Times New Roman" panose="02020603050405020304" pitchFamily="18" charset="0"/>
                <a:cs typeface="Times New Roman" panose="02020603050405020304" pitchFamily="18" charset="0"/>
              </a:rPr>
              <a:t>MySQL Workbench</a:t>
            </a:r>
            <a:r>
              <a:rPr lang="en-IN" sz="3300" dirty="0">
                <a:latin typeface="Times New Roman" panose="02020603050405020304" pitchFamily="18" charset="0"/>
                <a:cs typeface="Times New Roman" panose="02020603050405020304" pitchFamily="18" charset="0"/>
              </a:rPr>
              <a:t> — Used to create, manage, and visualize the MySQL database.</a:t>
            </a:r>
          </a:p>
          <a:p>
            <a:pPr algn="just"/>
            <a:r>
              <a:rPr lang="en-IN" sz="3300" b="1" dirty="0">
                <a:latin typeface="Times New Roman" panose="02020603050405020304" pitchFamily="18" charset="0"/>
                <a:cs typeface="Times New Roman" panose="02020603050405020304" pitchFamily="18" charset="0"/>
              </a:rPr>
              <a:t>Postman</a:t>
            </a:r>
            <a:r>
              <a:rPr lang="en-IN" sz="3300" dirty="0">
                <a:latin typeface="Times New Roman" panose="02020603050405020304" pitchFamily="18" charset="0"/>
                <a:cs typeface="Times New Roman" panose="02020603050405020304" pitchFamily="18" charset="0"/>
              </a:rPr>
              <a:t> — Used to test and verify the backend REST APIs.</a:t>
            </a:r>
          </a:p>
          <a:p>
            <a:pPr algn="just"/>
            <a:r>
              <a:rPr lang="en-IN" sz="3300" b="1" dirty="0">
                <a:latin typeface="Times New Roman" panose="02020603050405020304" pitchFamily="18" charset="0"/>
                <a:cs typeface="Times New Roman" panose="02020603050405020304" pitchFamily="18" charset="0"/>
              </a:rPr>
              <a:t>Git &amp; GitHub</a:t>
            </a:r>
            <a:r>
              <a:rPr lang="en-IN" sz="3300" dirty="0">
                <a:latin typeface="Times New Roman" panose="02020603050405020304" pitchFamily="18" charset="0"/>
                <a:cs typeface="Times New Roman" panose="02020603050405020304" pitchFamily="18" charset="0"/>
              </a:rPr>
              <a:t> — Used for version control, code management, and project collaboration.</a:t>
            </a:r>
          </a:p>
          <a:p>
            <a:pPr algn="just"/>
            <a:r>
              <a:rPr lang="en-IN" sz="3300" b="1" dirty="0">
                <a:latin typeface="Times New Roman" panose="02020603050405020304" pitchFamily="18" charset="0"/>
                <a:cs typeface="Times New Roman" panose="02020603050405020304" pitchFamily="18" charset="0"/>
              </a:rPr>
              <a:t>Google Chrome</a:t>
            </a:r>
            <a:r>
              <a:rPr lang="en-IN" sz="3300" dirty="0">
                <a:latin typeface="Times New Roman" panose="02020603050405020304" pitchFamily="18" charset="0"/>
                <a:cs typeface="Times New Roman" panose="02020603050405020304" pitchFamily="18" charset="0"/>
              </a:rPr>
              <a:t> — Used to run, test, and debug the web application.</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a:spLocks noGrp="1"/>
          </p:cNvSpPr>
          <p:nvPr>
            <p:ph type="title"/>
          </p:nvPr>
        </p:nvSpPr>
        <p:spPr>
          <a:xfrm>
            <a:off x="2614751" y="240500"/>
            <a:ext cx="7596600" cy="805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70C0"/>
              </a:buClr>
              <a:buSzPts val="3600"/>
              <a:buFont typeface="Calibri"/>
              <a:buNone/>
            </a:pPr>
            <a:r>
              <a:rPr lang="en-US" sz="3600" b="1">
                <a:solidFill>
                  <a:srgbClr val="0070C0"/>
                </a:solidFill>
              </a:rPr>
              <a:t>CONCLUSION AND FUTURE SCOPE</a:t>
            </a:r>
            <a:endParaRPr sz="4000" b="1">
              <a:solidFill>
                <a:srgbClr val="0070C0"/>
              </a:solidFill>
            </a:endParaRPr>
          </a:p>
        </p:txBody>
      </p:sp>
      <p:sp>
        <p:nvSpPr>
          <p:cNvPr id="223" name="Google Shape;22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24" name="Google Shape;224;p29"/>
          <p:cNvSpPr txBox="1"/>
          <p:nvPr/>
        </p:nvSpPr>
        <p:spPr>
          <a:xfrm>
            <a:off x="729700" y="1444275"/>
            <a:ext cx="11036400" cy="4783800"/>
          </a:xfrm>
          <a:prstGeom prst="rect">
            <a:avLst/>
          </a:prstGeom>
          <a:noFill/>
          <a:ln>
            <a:noFill/>
          </a:ln>
        </p:spPr>
        <p:txBody>
          <a:bodyPr spcFirstLastPara="1" wrap="square" lIns="91425" tIns="91425" rIns="91425" bIns="91425" anchor="t" anchorCtr="0">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Digital Order Management with Database System and Retail Analytics</a:t>
            </a:r>
            <a:r>
              <a:rPr lang="en-IN" sz="2000" dirty="0">
                <a:latin typeface="Times New Roman" panose="02020603050405020304" pitchFamily="18" charset="0"/>
                <a:cs typeface="Times New Roman" panose="02020603050405020304" pitchFamily="18" charset="0"/>
              </a:rPr>
              <a:t> provides a centralized and structured solution for managing retail operations. The system integrates product management, inventory management, customer management, cart and checkout, order processing, returns, loyalty and rewards, analytics, and business decision support into a single platform. It helps reduce manual work, maintain organized records, and make retail information easier to access and manage.</a:t>
            </a:r>
          </a:p>
          <a:p>
            <a:pPr lvl="0" algn="just">
              <a:lnSpc>
                <a:spcPct val="150000"/>
              </a:lnSpc>
            </a:pPr>
            <a:r>
              <a:rPr lang="en-IN" sz="2000" dirty="0">
                <a:latin typeface="Times New Roman" panose="02020603050405020304" pitchFamily="18" charset="0"/>
                <a:cs typeface="Times New Roman" panose="02020603050405020304" pitchFamily="18" charset="0"/>
              </a:rPr>
              <a:t>In the future, the system can be enhanced with online payment gateway integration, real-time delivery tracking, mobile application support, AI-based product recommendations, predictive sales analytics, advanced inventory forecasting, real-time notifications, and AI-based customer support. These enhancements can improve customer experience, automate more business operations, and provide more advanced insights for retail management.</a:t>
            </a:r>
            <a:endParaRPr sz="20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BED23049-7AD2-180E-5DF4-AE3F4FF6BC37}"/>
            </a:ext>
          </a:extLst>
        </p:cNvPr>
        <p:cNvGrpSpPr/>
        <p:nvPr/>
      </p:nvGrpSpPr>
      <p:grpSpPr>
        <a:xfrm>
          <a:off x="0" y="0"/>
          <a:ext cx="0" cy="0"/>
          <a:chOff x="0" y="0"/>
          <a:chExt cx="0" cy="0"/>
        </a:xfrm>
      </p:grpSpPr>
      <p:sp>
        <p:nvSpPr>
          <p:cNvPr id="222" name="Google Shape;222;p29">
            <a:extLst>
              <a:ext uri="{FF2B5EF4-FFF2-40B4-BE49-F238E27FC236}">
                <a16:creationId xmlns:a16="http://schemas.microsoft.com/office/drawing/2014/main" id="{475183D8-70DA-7B7B-DCED-D99E596671FF}"/>
              </a:ext>
            </a:extLst>
          </p:cNvPr>
          <p:cNvSpPr txBox="1">
            <a:spLocks noGrp="1"/>
          </p:cNvSpPr>
          <p:nvPr>
            <p:ph type="title"/>
          </p:nvPr>
        </p:nvSpPr>
        <p:spPr>
          <a:xfrm>
            <a:off x="2614751" y="240500"/>
            <a:ext cx="7596600" cy="8055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3600"/>
              <a:buFont typeface="Calibri"/>
              <a:buNone/>
            </a:pPr>
            <a:r>
              <a:rPr lang="en-IN" sz="4000" b="1" dirty="0">
                <a:solidFill>
                  <a:srgbClr val="0070C0"/>
                </a:solidFill>
              </a:rPr>
              <a:t>SYSTEM ARCHITECTURE</a:t>
            </a:r>
            <a:endParaRPr sz="4000" b="1" dirty="0">
              <a:solidFill>
                <a:srgbClr val="0070C0"/>
              </a:solidFill>
            </a:endParaRPr>
          </a:p>
        </p:txBody>
      </p:sp>
      <p:sp>
        <p:nvSpPr>
          <p:cNvPr id="223" name="Google Shape;223;p29">
            <a:extLst>
              <a:ext uri="{FF2B5EF4-FFF2-40B4-BE49-F238E27FC236}">
                <a16:creationId xmlns:a16="http://schemas.microsoft.com/office/drawing/2014/main" id="{69C4583D-C17C-6368-1F38-76BC99A44C4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224" name="Google Shape;224;p29">
            <a:extLst>
              <a:ext uri="{FF2B5EF4-FFF2-40B4-BE49-F238E27FC236}">
                <a16:creationId xmlns:a16="http://schemas.microsoft.com/office/drawing/2014/main" id="{9F500B58-F312-925B-5A4E-E5F132F98CF7}"/>
              </a:ext>
            </a:extLst>
          </p:cNvPr>
          <p:cNvSpPr txBox="1"/>
          <p:nvPr/>
        </p:nvSpPr>
        <p:spPr>
          <a:xfrm>
            <a:off x="729700" y="1444275"/>
            <a:ext cx="11036400" cy="4783800"/>
          </a:xfrm>
          <a:prstGeom prst="rect">
            <a:avLst/>
          </a:prstGeom>
          <a:noFill/>
          <a:ln>
            <a:noFill/>
          </a:ln>
        </p:spPr>
        <p:txBody>
          <a:bodyPr spcFirstLastPara="1" wrap="square" lIns="91425" tIns="91425" rIns="91425" bIns="91425" anchor="t" anchorCtr="0">
            <a:noAutofit/>
          </a:bodyPr>
          <a:lstStyle/>
          <a:p>
            <a:pPr algn="just">
              <a:lnSpc>
                <a:spcPct val="150000"/>
              </a:lnSpc>
            </a:pPr>
            <a:endParaRPr sz="2000" dirty="0">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2" name="Picture 1">
            <a:extLst>
              <a:ext uri="{FF2B5EF4-FFF2-40B4-BE49-F238E27FC236}">
                <a16:creationId xmlns:a16="http://schemas.microsoft.com/office/drawing/2014/main" id="{7484B608-5D1E-6003-F3F8-E4D70BFBB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3932" y="974172"/>
            <a:ext cx="3141135" cy="5407882"/>
          </a:xfrm>
          <a:prstGeom prst="rect">
            <a:avLst/>
          </a:prstGeom>
        </p:spPr>
      </p:pic>
    </p:spTree>
    <p:extLst>
      <p:ext uri="{BB962C8B-B14F-4D97-AF65-F5344CB8AC3E}">
        <p14:creationId xmlns:p14="http://schemas.microsoft.com/office/powerpoint/2010/main" val="2503937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28"/>
        <p:cNvGrpSpPr/>
        <p:nvPr/>
      </p:nvGrpSpPr>
      <p:grpSpPr>
        <a:xfrm>
          <a:off x="0" y="0"/>
          <a:ext cx="0" cy="0"/>
          <a:chOff x="0" y="0"/>
          <a:chExt cx="0" cy="0"/>
        </a:xfrm>
      </p:grpSpPr>
      <p:sp>
        <p:nvSpPr>
          <p:cNvPr id="229" name="Google Shape;229;p30"/>
          <p:cNvSpPr txBox="1">
            <a:spLocks noGrp="1"/>
          </p:cNvSpPr>
          <p:nvPr>
            <p:ph type="body" idx="1"/>
          </p:nvPr>
        </p:nvSpPr>
        <p:spPr>
          <a:xfrm>
            <a:off x="838200" y="740780"/>
            <a:ext cx="10515600" cy="543618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p>
          <a:p>
            <a:pPr marL="0" lvl="0" indent="0" algn="ctr" rtl="0">
              <a:lnSpc>
                <a:spcPct val="90000"/>
              </a:lnSpc>
              <a:spcBef>
                <a:spcPts val="1000"/>
              </a:spcBef>
              <a:spcAft>
                <a:spcPts val="0"/>
              </a:spcAft>
              <a:buClr>
                <a:schemeClr val="dk1"/>
              </a:buClr>
              <a:buSzPts val="4400"/>
              <a:buNone/>
            </a:pPr>
            <a:endParaRPr sz="4700"/>
          </a:p>
          <a:p>
            <a:pPr marL="0" lvl="0" indent="0" algn="ctr" rtl="0">
              <a:lnSpc>
                <a:spcPct val="90000"/>
              </a:lnSpc>
              <a:spcBef>
                <a:spcPts val="1000"/>
              </a:spcBef>
              <a:spcAft>
                <a:spcPts val="0"/>
              </a:spcAft>
              <a:buClr>
                <a:schemeClr val="dk1"/>
              </a:buClr>
              <a:buSzPts val="4400"/>
              <a:buNone/>
            </a:pPr>
            <a:endParaRPr sz="4500"/>
          </a:p>
          <a:p>
            <a:pPr marL="0" lvl="0" indent="0" algn="ctr" rtl="0">
              <a:lnSpc>
                <a:spcPct val="90000"/>
              </a:lnSpc>
              <a:spcBef>
                <a:spcPts val="1000"/>
              </a:spcBef>
              <a:spcAft>
                <a:spcPts val="0"/>
              </a:spcAft>
              <a:buClr>
                <a:srgbClr val="0070C0"/>
              </a:buClr>
              <a:buSzPts val="4400"/>
              <a:buNone/>
            </a:pPr>
            <a:r>
              <a:rPr lang="en-US" sz="5000" b="1">
                <a:solidFill>
                  <a:srgbClr val="0070C0"/>
                </a:solidFill>
              </a:rPr>
              <a:t>THANK YOU</a:t>
            </a:r>
            <a:endParaRPr sz="5500"/>
          </a:p>
        </p:txBody>
      </p:sp>
      <p:sp>
        <p:nvSpPr>
          <p:cNvPr id="230" name="Google Shape;23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1424</Words>
  <Application>Microsoft Office PowerPoint</Application>
  <PresentationFormat>Widescreen</PresentationFormat>
  <Paragraphs>118</Paragraphs>
  <Slides>13</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Times New Roman</vt:lpstr>
      <vt:lpstr>Calibri</vt:lpstr>
      <vt:lpstr>Office Theme</vt:lpstr>
      <vt:lpstr>Custom Design</vt:lpstr>
      <vt:lpstr> Digital Order Management with Database System and Retail Analytics   </vt:lpstr>
      <vt:lpstr>GROUP NUMBER:7</vt:lpstr>
      <vt:lpstr>ABSTRACT</vt:lpstr>
      <vt:lpstr>INTRODUCTION</vt:lpstr>
      <vt:lpstr>EXISTING SYSTEM</vt:lpstr>
      <vt:lpstr>PROBLEM STATEMENT</vt:lpstr>
      <vt:lpstr>SOLUTION(Contribution)</vt:lpstr>
      <vt:lpstr>Objectives </vt:lpstr>
      <vt:lpstr>Modules</vt:lpstr>
      <vt:lpstr>SOFTWARE REQUIREMENTS </vt:lpstr>
      <vt:lpstr>CONCLUSION AND FUTURE SCOPE</vt:lpstr>
      <vt:lpstr>SYSTEM ARCHITECTURE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Tower PMC</cp:lastModifiedBy>
  <cp:revision>3</cp:revision>
  <dcterms:modified xsi:type="dcterms:W3CDTF">2026-10-01T05:53:38Z</dcterms:modified>
</cp:coreProperties>
</file>